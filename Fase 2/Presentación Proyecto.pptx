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5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323" r:id="rId9"/>
    <p:sldId id="263" r:id="rId10"/>
    <p:sldId id="269" r:id="rId11"/>
    <p:sldId id="320" r:id="rId12"/>
    <p:sldId id="324" r:id="rId13"/>
    <p:sldId id="270" r:id="rId14"/>
    <p:sldId id="267" r:id="rId15"/>
    <p:sldId id="268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47E5"/>
    <a:srgbClr val="D84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image" Target="../media/image3.jp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image" Target="../media/image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Juan Silva Sepúlveda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Matías Reuque Barros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Scrum Master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/>
      <dgm:spPr>
        <a:blipFill>
          <a:blip xmlns:r="http://schemas.openxmlformats.org/officeDocument/2006/relationships" r:embed="rId1"/>
          <a:srcRect/>
          <a:stretch>
            <a:fillRect l="-4000" r="-4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>
        <a:blipFill>
          <a:blip xmlns:r="http://schemas.openxmlformats.org/officeDocument/2006/relationships" r:embed="rId2"/>
          <a:srcRect/>
          <a:stretch>
            <a:fillRect l="-4000" r="-4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800" kern="1200" dirty="0"/>
            <a:t>Juan Silva Sepúlveda</a:t>
          </a:r>
          <a:endParaRPr lang="es-CL" sz="4800" kern="1200" dirty="0"/>
        </a:p>
        <a:p>
          <a:pPr marL="285750" lvl="1" indent="-285750" algn="l" defTabSz="1644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700" kern="1200" dirty="0" err="1"/>
            <a:t>Product</a:t>
          </a:r>
          <a:r>
            <a:rPr lang="es-MX" sz="3700" kern="1200" dirty="0"/>
            <a:t> </a:t>
          </a:r>
          <a:r>
            <a:rPr lang="es-MX" sz="3700" kern="1200" dirty="0" err="1"/>
            <a:t>Owner</a:t>
          </a:r>
          <a:endParaRPr lang="es-CL" sz="37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4000" r="-4000"/>
          </a:stretch>
        </a:blip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800" kern="1200" dirty="0"/>
            <a:t>Matías Reuque Barros</a:t>
          </a:r>
          <a:endParaRPr lang="es-CL" sz="4800" kern="1200" dirty="0"/>
        </a:p>
        <a:p>
          <a:pPr marL="285750" lvl="1" indent="-285750" algn="l" defTabSz="1644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700" kern="1200" dirty="0"/>
            <a:t>Scrum Master</a:t>
          </a:r>
          <a:endParaRPr lang="es-CL" sz="37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4000" r="-4000"/>
          </a:stretch>
        </a:blip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l"/>
        </a:scene3d>
        <a:sp3d prstMaterial="plastic">
          <a:bevelT w="0" h="0"/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6541400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8339774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38585756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42256933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34026723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65456656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5344794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01497297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4148649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3181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21480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9396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436026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7957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2988206"/>
      </p:ext>
    </p:extLst>
  </p:cSld>
  <p:clrMapOvr>
    <a:masterClrMapping/>
  </p:clrMapOvr>
  <p:transition spd="slow">
    <p:wip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86853125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C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17-06-2026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34531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  <p:sldLayoutId id="2147483758" r:id="rId13"/>
    <p:sldLayoutId id="2147483759" r:id="rId14"/>
    <p:sldLayoutId id="2147483760" r:id="rId15"/>
    <p:sldLayoutId id="2147483761" r:id="rId16"/>
  </p:sldLayoutIdLst>
  <p:transition spd="slow">
    <p:wipe/>
  </p:transition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524484" y="2111805"/>
            <a:ext cx="4335468" cy="20849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200" kern="1200" dirty="0">
                <a:solidFill>
                  <a:schemeClr val="accent1"/>
                </a:solidFill>
                <a:latin typeface="Century Schoolbook" panose="02040604050505020304" pitchFamily="18" charset="0"/>
                <a:ea typeface="+mj-ea"/>
                <a:cs typeface="+mj-cs"/>
              </a:rPr>
              <a:t>PROYECTO SERVIHOGAR</a:t>
            </a:r>
          </a:p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kern="1200" dirty="0">
                <a:solidFill>
                  <a:schemeClr val="accent1"/>
                </a:solidFill>
                <a:latin typeface="Century Schoolbook" panose="02040604050505020304" pitchFamily="18" charset="0"/>
                <a:ea typeface="+mj-ea"/>
                <a:cs typeface="+mj-cs"/>
              </a:rPr>
              <a:t>PRESENTACIÓN FINAL CAPSTONE</a:t>
            </a:r>
          </a:p>
        </p:txBody>
      </p:sp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5998" y="3154273"/>
            <a:ext cx="3280613" cy="820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11275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8117159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utoShape 2" descr="Logo de DuocUC Escuela de Informática y Telecomunicaciones con fondo transparente">
            <a:extLst>
              <a:ext uri="{FF2B5EF4-FFF2-40B4-BE49-F238E27FC236}">
                <a16:creationId xmlns:a16="http://schemas.microsoft.com/office/drawing/2014/main" id="{5BC367C9-A3AB-E4F4-3E75-DCA1344767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6" y="19758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</a:t>
            </a:r>
            <a:endParaRPr lang="es-MX" u="sng" dirty="0"/>
          </a:p>
          <a:p>
            <a:r>
              <a:rPr lang="es-ES" dirty="0"/>
              <a:t>El agendamiento de servicios a domicilio en Chile es informal: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/>
              <a:t>Recomendación de un tercero.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/>
              <a:t>Coordinación por redes sociales</a:t>
            </a:r>
            <a:r>
              <a:rPr lang="es-CL" dirty="0"/>
              <a:t> o llamada.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CL" dirty="0"/>
              <a:t>Poca confianza por información limitada.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r>
              <a:rPr lang="es-CL" dirty="0"/>
              <a:t>Crear una plataforma web para visibilizar a los trabajadores independientes, ofreciendo un sistema de reservas, búsqueda con filtros, gestión de horario laboral y calificación de estrellas.</a:t>
            </a: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3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Desarrollar una plataforma web que conecte la oferta de trabajadores independientes</a:t>
            </a:r>
          </a:p>
          <a:p>
            <a:pPr algn="ctr"/>
            <a:r>
              <a:rPr lang="es-ES" dirty="0"/>
              <a:t>con la demanda de servicios a domicilio.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275909"/>
            <a:ext cx="10962967" cy="203171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s-ES" sz="2000" dirty="0"/>
              <a:t>Lograr un aumento en el registro de usuarios de un 30%.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s-ES" sz="2000" dirty="0"/>
              <a:t>Mantener una calificación promedio igual o mayor a 3 estrellas.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s-ES" sz="2000" dirty="0"/>
              <a:t>Expandir la cobertura regional a una o 2 regiones de Chile.</a:t>
            </a:r>
          </a:p>
          <a:p>
            <a:pPr marL="2171700" lvl="4" indent="-342900">
              <a:buFont typeface="Arial" panose="020B0604020202020204" pitchFamily="34" charset="0"/>
              <a:buChar char="•"/>
            </a:pPr>
            <a:r>
              <a:rPr lang="es-ES" sz="2000" dirty="0"/>
              <a:t>Incluir al menos 2 categorías nuevas de servicios.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-3" y="3694674"/>
            <a:ext cx="12191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</a:p>
          <a:p>
            <a:pPr algn="ctr"/>
            <a:r>
              <a:rPr lang="es-CL" dirty="0"/>
              <a:t>(a 6 meses del despliegue)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484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740143" y="1432655"/>
            <a:ext cx="2690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E3311CD-16D6-D722-7962-4D5DF881B096}"/>
              </a:ext>
            </a:extLst>
          </p:cNvPr>
          <p:cNvSpPr txBox="1"/>
          <p:nvPr/>
        </p:nvSpPr>
        <p:spPr>
          <a:xfrm>
            <a:off x="1601890" y="2078986"/>
            <a:ext cx="8987733" cy="452431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Plataforma web responsiva para gestionar servicios a domicilio en la región del </a:t>
            </a:r>
            <a:r>
              <a:rPr lang="es-ES" sz="1600" dirty="0" err="1"/>
              <a:t>BioBío</a:t>
            </a:r>
            <a:r>
              <a:rPr lang="es-ES" sz="1600" dirty="0"/>
              <a:t>, Chile.​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Cobertura inicial de tres servicios: gasfitería﻿, limpieza del hogar﻿ y jardinería﻿.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Flujo completo digital: registro y autenticación, verificación de antecedentes, búsqueda, reserva y sistema de reseñas.​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Configuración de horario laboral personal por servicio, incluyendo bloqueo de días y horarios personalizados.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Panel administrativo para monitorear usuarios, servicios, calidad y alertas operativas.</a:t>
            </a:r>
            <a:r>
              <a:rPr lang="es-CL" sz="1600" dirty="0"/>
              <a:t> </a:t>
            </a:r>
            <a:endParaRPr lang="es-ES" sz="1600" dirty="0"/>
          </a:p>
          <a:p>
            <a:pPr lvl="1"/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No se desarrollará aplicación móvil para Android/iOS en esta etapa.​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Enfoque exclusivo en el mercado chileno, sin multilenguaje ni soporte internacional.​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No incluye chat en tiempo real, campañas de correo automatizadas ni motores de recomendación basados en inteligencia artificial.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/>
              <a:t>No incluye sistema de pagos, el pago del servicio será presencial (efectivo o transferencia).</a:t>
            </a:r>
            <a:endParaRPr lang="es-CL" sz="1600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1AF8EF1D-5CEF-6C44-5BB3-7E99539DEE39}"/>
              </a:ext>
            </a:extLst>
          </p:cNvPr>
          <p:cNvSpPr txBox="1"/>
          <p:nvPr/>
        </p:nvSpPr>
        <p:spPr>
          <a:xfrm>
            <a:off x="6941173" y="1432655"/>
            <a:ext cx="2969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Limitaciones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6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496389" y="141063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utoShape 4">
            <a:extLst>
              <a:ext uri="{FF2B5EF4-FFF2-40B4-BE49-F238E27FC236}">
                <a16:creationId xmlns:a16="http://schemas.microsoft.com/office/drawing/2014/main" id="{F908992C-868A-909F-9CFB-86D74E48B5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0D44F8C-4DBE-4B7E-A098-FC4CC2997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111" y="3106783"/>
            <a:ext cx="6179278" cy="3069325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437C1A00-A50A-1211-8B6C-4B29322C6709}"/>
              </a:ext>
            </a:extLst>
          </p:cNvPr>
          <p:cNvSpPr txBox="1"/>
          <p:nvPr/>
        </p:nvSpPr>
        <p:spPr>
          <a:xfrm>
            <a:off x="4175760" y="2084292"/>
            <a:ext cx="4833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Utilizamos Scrum, un enfoque ágil que organiza el trabajo en </a:t>
            </a:r>
            <a:r>
              <a:rPr lang="es-ES" dirty="0" err="1"/>
              <a:t>Sprints</a:t>
            </a:r>
            <a:r>
              <a:rPr lang="es-ES" dirty="0"/>
              <a:t> cortos para planificar, desarrollar y revisar incrementos del producto de forma iterativa y adaptable a cambios.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6239362" y="1107188"/>
            <a:ext cx="4023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n 7">
            <a:extLst>
              <a:ext uri="{FF2B5EF4-FFF2-40B4-BE49-F238E27FC236}">
                <a16:creationId xmlns:a16="http://schemas.microsoft.com/office/drawing/2014/main" id="{D2D03411-7B62-C052-6068-C67632DF7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9" y="959868"/>
            <a:ext cx="6184245" cy="520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81F9-04BF-7344-7C5C-DF34794A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176E707-81E3-6979-7B2A-ACB9BCC7A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9FC5496-E3AA-7E97-E15B-014C307E7E50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72DF29C-05DA-D047-93C3-9504FC317D61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690EF04-CB2F-7584-6CF6-966617021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2" y="882924"/>
            <a:ext cx="5121525" cy="57939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C260DC7-460C-0291-29AC-E429BFD7C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655" y="1426243"/>
            <a:ext cx="5121525" cy="470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400703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484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55249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C53557ED-F8F7-11FD-982C-B2BEC4170D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693" y="1154280"/>
            <a:ext cx="8945017" cy="538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909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759493" y="738260"/>
            <a:ext cx="3545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6C9275-3451-6D84-1052-90E99BBD88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93" y="1338234"/>
            <a:ext cx="10334445" cy="509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88B2-6AA3-1958-1C37-1CDC925FD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6525873-FFA7-A352-DBC2-0D8A24D64D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909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D0FA0E69-85D3-A92D-3D95-019F075BFFF4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9C26B29-2259-A146-D113-5E7BDCD126C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43640F11-EA42-5D79-AD1F-518F4BFBF797}"/>
              </a:ext>
            </a:extLst>
          </p:cNvPr>
          <p:cNvSpPr txBox="1"/>
          <p:nvPr/>
        </p:nvSpPr>
        <p:spPr>
          <a:xfrm>
            <a:off x="737342" y="738260"/>
            <a:ext cx="35681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9878D5C-5FCE-7FEA-A0DF-4DF574740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6" y="1753923"/>
            <a:ext cx="3444951" cy="38164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2392243-4764-9A96-8FC8-F55A4A4A6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6611" y="794442"/>
            <a:ext cx="5031019" cy="585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59684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55BCB-4CC4-3911-BF94-509E25FD3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E06D3D2-7869-743E-E36F-C099E1998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909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7B42890-3B87-E772-0EBE-4EC019EE71AC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D4FA5A2-C2A9-2991-FF4F-9A45AEA4C51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5D1C7075-3048-711E-72AD-7935C2871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606" y="1098098"/>
            <a:ext cx="10301161" cy="5456613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A8C73CD-9DDB-98F4-D355-E6C35452BCAA}"/>
              </a:ext>
            </a:extLst>
          </p:cNvPr>
          <p:cNvSpPr txBox="1"/>
          <p:nvPr/>
        </p:nvSpPr>
        <p:spPr>
          <a:xfrm>
            <a:off x="737342" y="738260"/>
            <a:ext cx="35681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</p:spTree>
    <p:extLst>
      <p:ext uri="{BB962C8B-B14F-4D97-AF65-F5344CB8AC3E}">
        <p14:creationId xmlns:p14="http://schemas.microsoft.com/office/powerpoint/2010/main" val="2548100098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6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SERVIHOGAR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90EF714B-4D66-0941-9376-A9E021414953}"/>
              </a:ext>
            </a:extLst>
          </p:cNvPr>
          <p:cNvSpPr txBox="1"/>
          <p:nvPr/>
        </p:nvSpPr>
        <p:spPr>
          <a:xfrm>
            <a:off x="2633205" y="2318606"/>
            <a:ext cx="346279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s-CL" b="1" dirty="0" err="1"/>
              <a:t>Backend</a:t>
            </a:r>
            <a:endParaRPr lang="es-CL" b="1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/>
              <a:t>Python (Lenguaje)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/>
              <a:t>Django (Framework)</a:t>
            </a:r>
          </a:p>
          <a:p>
            <a:pPr fontAlgn="base"/>
            <a:r>
              <a:rPr lang="es-CL" b="1" dirty="0"/>
              <a:t>Base de Datos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/>
              <a:t>PostgreSQL (Gestor de data)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8B3F51B-9A10-A6F1-39FD-86DEF295F4A9}"/>
              </a:ext>
            </a:extLst>
          </p:cNvPr>
          <p:cNvSpPr txBox="1"/>
          <p:nvPr/>
        </p:nvSpPr>
        <p:spPr>
          <a:xfrm>
            <a:off x="6232187" y="2317543"/>
            <a:ext cx="386975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s-CL" b="1" dirty="0" err="1"/>
              <a:t>Frontend</a:t>
            </a:r>
            <a:endParaRPr lang="es-CL" b="1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/>
              <a:t>JavaScript/</a:t>
            </a:r>
            <a:r>
              <a:rPr lang="es-CL" dirty="0" err="1"/>
              <a:t>TypeScript</a:t>
            </a:r>
            <a:r>
              <a:rPr lang="es-CL" dirty="0"/>
              <a:t> (Lenguaje)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 err="1"/>
              <a:t>React</a:t>
            </a:r>
            <a:r>
              <a:rPr lang="es-CL" dirty="0"/>
              <a:t> (Framework)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 err="1"/>
              <a:t>React</a:t>
            </a:r>
            <a:r>
              <a:rPr lang="es-CL" dirty="0"/>
              <a:t> </a:t>
            </a:r>
            <a:r>
              <a:rPr lang="es-CL" dirty="0" err="1"/>
              <a:t>Router</a:t>
            </a:r>
            <a:endParaRPr lang="es-CL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 err="1"/>
              <a:t>Tailwind</a:t>
            </a:r>
            <a:r>
              <a:rPr lang="es-CL" dirty="0"/>
              <a:t> CSS (Biblioteca)</a:t>
            </a:r>
          </a:p>
          <a:p>
            <a:pPr fontAlgn="base"/>
            <a:r>
              <a:rPr lang="es-CL" b="1" dirty="0" err="1"/>
              <a:t>Deployment</a:t>
            </a:r>
            <a:endParaRPr lang="es-CL" b="1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s-CL" dirty="0"/>
              <a:t>Docker (Contenedores)</a:t>
            </a:r>
          </a:p>
        </p:txBody>
      </p:sp>
      <p:sp>
        <p:nvSpPr>
          <p:cNvPr id="8" name="AutoShape 2" descr="Django Icon Vector SVG Icon - SVG Repo">
            <a:extLst>
              <a:ext uri="{FF2B5EF4-FFF2-40B4-BE49-F238E27FC236}">
                <a16:creationId xmlns:a16="http://schemas.microsoft.com/office/drawing/2014/main" id="{6E1DB2D0-49DA-43E5-F31A-BDFC6839AF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pic>
        <p:nvPicPr>
          <p:cNvPr id="1028" name="Picture 4" descr="Django Python programación informática lenguaje de programación software,  logo de Python, texto, logo png | PNGEgg">
            <a:extLst>
              <a:ext uri="{FF2B5EF4-FFF2-40B4-BE49-F238E27FC236}">
                <a16:creationId xmlns:a16="http://schemas.microsoft.com/office/drawing/2014/main" id="{EC875DF6-0A72-F164-DC9B-FB5887F928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046" b="92241" l="7184" r="93391">
                        <a14:foregroundMark x1="49425" y1="29310" x2="49425" y2="29310"/>
                        <a14:foregroundMark x1="44540" y1="18966" x2="16667" y2="45115"/>
                        <a14:foregroundMark x1="16667" y1="45115" x2="17241" y2="67529"/>
                        <a14:foregroundMark x1="17241" y1="67529" x2="39368" y2="79310"/>
                        <a14:foregroundMark x1="39368" y1="79310" x2="59195" y2="83046"/>
                        <a14:foregroundMark x1="59195" y1="83046" x2="77299" y2="45977"/>
                        <a14:foregroundMark x1="77299" y1="45977" x2="75287" y2="19540"/>
                        <a14:foregroundMark x1="75287" y1="19540" x2="50575" y2="12069"/>
                        <a14:foregroundMark x1="50575" y1="12069" x2="30172" y2="17529"/>
                        <a14:foregroundMark x1="30172" y1="17529" x2="27586" y2="21552"/>
                        <a14:foregroundMark x1="76149" y1="50000" x2="62644" y2="82759"/>
                        <a14:foregroundMark x1="62644" y1="82759" x2="45690" y2="75575"/>
                        <a14:foregroundMark x1="45690" y1="75575" x2="46552" y2="36782"/>
                        <a14:foregroundMark x1="46552" y1="36782" x2="52299" y2="20690"/>
                        <a14:foregroundMark x1="52299" y1="20690" x2="72126" y2="40230"/>
                        <a14:foregroundMark x1="38218" y1="25575" x2="25000" y2="34195"/>
                        <a14:foregroundMark x1="25000" y1="34195" x2="16379" y2="61782"/>
                        <a14:foregroundMark x1="16379" y1="61782" x2="37356" y2="72989"/>
                        <a14:foregroundMark x1="37356" y1="72989" x2="47989" y2="48851"/>
                        <a14:foregroundMark x1="47989" y1="48851" x2="31322" y2="35057"/>
                        <a14:foregroundMark x1="31322" y1="35057" x2="20690" y2="34483"/>
                        <a14:foregroundMark x1="32759" y1="38793" x2="22701" y2="50000"/>
                        <a14:foregroundMark x1="22701" y1="50000" x2="24425" y2="74713"/>
                        <a14:foregroundMark x1="24425" y1="74713" x2="45115" y2="46552"/>
                        <a14:foregroundMark x1="45115" y1="46552" x2="26724" y2="34483"/>
                        <a14:foregroundMark x1="26724" y1="34483" x2="17529" y2="40517"/>
                        <a14:foregroundMark x1="56897" y1="32471" x2="50000" y2="49138"/>
                        <a14:foregroundMark x1="50000" y1="49138" x2="68966" y2="68391"/>
                        <a14:foregroundMark x1="68966" y1="68391" x2="73563" y2="42529"/>
                        <a14:foregroundMark x1="73563" y1="42529" x2="50575" y2="39943"/>
                        <a14:foregroundMark x1="50575" y1="39943" x2="45115" y2="46552"/>
                        <a14:foregroundMark x1="7471" y1="44828" x2="7471" y2="44828"/>
                        <a14:foregroundMark x1="66667" y1="25575" x2="66667" y2="25575"/>
                        <a14:foregroundMark x1="46552" y1="8046" x2="46552" y2="8046"/>
                        <a14:foregroundMark x1="64655" y1="30460" x2="64655" y2="30460"/>
                        <a14:foregroundMark x1="63793" y1="52299" x2="63793" y2="52299"/>
                        <a14:foregroundMark x1="26437" y1="60057" x2="26437" y2="60057"/>
                        <a14:foregroundMark x1="61782" y1="46839" x2="61782" y2="46839"/>
                        <a14:foregroundMark x1="67529" y1="51724" x2="67529" y2="51724"/>
                        <a14:foregroundMark x1="65805" y1="61494" x2="65805" y2="61494"/>
                        <a14:foregroundMark x1="93391" y1="47414" x2="93391" y2="47414"/>
                        <a14:foregroundMark x1="27299" y1="55747" x2="27299" y2="55747"/>
                        <a14:foregroundMark x1="49713" y1="92241" x2="49713" y2="922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4925" y="4712340"/>
            <a:ext cx="1143544" cy="1143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13842B7-9FE9-7FEF-26E4-CC1856DDF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6994" y="4788914"/>
            <a:ext cx="1112820" cy="990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128365E-1901-AB7E-C5F0-9358473DA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8339" y="4708264"/>
            <a:ext cx="1112820" cy="1147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cker, logo, logos icon - Free download on Iconfinder">
            <a:extLst>
              <a:ext uri="{FF2B5EF4-FFF2-40B4-BE49-F238E27FC236}">
                <a16:creationId xmlns:a16="http://schemas.microsoft.com/office/drawing/2014/main" id="{0B927B12-F222-7F2B-657C-6E3482490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779" y="4625867"/>
            <a:ext cx="1230017" cy="1230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16300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6F6CAAE-EC76-296F-B375-0804B83679D6}"/>
              </a:ext>
            </a:extLst>
          </p:cNvPr>
          <p:cNvSpPr txBox="1"/>
          <p:nvPr/>
        </p:nvSpPr>
        <p:spPr>
          <a:xfrm>
            <a:off x="2334883" y="2018581"/>
            <a:ext cx="752223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Los resultados globales del proyecto son altamente satisfactorios: como equipo, se logró cumplir de manera exitosa con la totalidad de los alcances definidos para esta etapa del proyecto.</a:t>
            </a:r>
          </a:p>
          <a:p>
            <a:endParaRPr lang="es-CL" dirty="0"/>
          </a:p>
          <a:p>
            <a:r>
              <a:rPr lang="es-CL" dirty="0"/>
              <a:t>A lo largo del desarrollo, se registró un avance sostenido y conforme a lo establecido en el cronograma, finalizando dentro de los plazos proyectados.</a:t>
            </a:r>
          </a:p>
          <a:p>
            <a:endParaRPr lang="es-CL" dirty="0"/>
          </a:p>
          <a:p>
            <a:r>
              <a:rPr lang="es-CL" dirty="0"/>
              <a:t>Asimismo, el equipo manifiesta una actitud proactiva y el compromiso de continuar impulsando nuevas iniciativas e ideas para </a:t>
            </a:r>
            <a:r>
              <a:rPr lang="es-CL" dirty="0" err="1"/>
              <a:t>ServiHogar</a:t>
            </a:r>
            <a:r>
              <a:rPr lang="es-C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2464526" y="1055972"/>
            <a:ext cx="726294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E245AEB-497A-0BFA-5763-1CA781AB51C8}"/>
              </a:ext>
            </a:extLst>
          </p:cNvPr>
          <p:cNvSpPr txBox="1"/>
          <p:nvPr/>
        </p:nvSpPr>
        <p:spPr>
          <a:xfrm>
            <a:off x="2675626" y="2502522"/>
            <a:ext cx="6840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Coordinación y comunicación del equipo.</a:t>
            </a:r>
          </a:p>
          <a:p>
            <a:endParaRPr lang="es-ES" dirty="0"/>
          </a:p>
          <a:p>
            <a:r>
              <a:rPr lang="es-ES" dirty="0"/>
              <a:t>Adaptación a nuevas tecnologías.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7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2508069" y="2521059"/>
            <a:ext cx="717586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4420816"/>
      </p:ext>
    </p:extLst>
  </p:cSld>
  <p:clrMapOvr>
    <a:masterClrMapping/>
  </p:clrMapOvr>
  <p:transition spd="slow">
    <p:wip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296" y="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65955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Consultas y/o comentarios</a:t>
            </a:r>
          </a:p>
        </p:txBody>
      </p:sp>
      <p:pic>
        <p:nvPicPr>
          <p:cNvPr id="2" name="2 Imagen" descr="foto_preguntas.jpg">
            <a:extLst>
              <a:ext uri="{FF2B5EF4-FFF2-40B4-BE49-F238E27FC236}">
                <a16:creationId xmlns:a16="http://schemas.microsoft.com/office/drawing/2014/main" id="{C07605C8-4819-D34A-D1F9-3A0FE8320717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024436" y="357470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Faceta">
  <a:themeElements>
    <a:clrScheme name="Verde 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1477</TotalTime>
  <Words>530</Words>
  <Application>Microsoft Office PowerPoint</Application>
  <PresentationFormat>Panorámica</PresentationFormat>
  <Paragraphs>87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Arial</vt:lpstr>
      <vt:lpstr>Calibri</vt:lpstr>
      <vt:lpstr>Century Schoolbook</vt:lpstr>
      <vt:lpstr>Wingdings</vt:lpstr>
      <vt:lpstr>Wingdings 3</vt:lpstr>
      <vt:lpstr>Faceta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JUAN CRISTOPHER SILVA SEPULVEDA</cp:lastModifiedBy>
  <cp:revision>12</cp:revision>
  <dcterms:created xsi:type="dcterms:W3CDTF">2023-10-28T21:12:11Z</dcterms:created>
  <dcterms:modified xsi:type="dcterms:W3CDTF">2026-06-18T00:35:27Z</dcterms:modified>
</cp:coreProperties>
</file>