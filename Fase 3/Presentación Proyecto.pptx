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  <p:sldId id="323" r:id="rId9"/>
    <p:sldId id="263" r:id="rId10"/>
    <p:sldId id="269" r:id="rId11"/>
    <p:sldId id="320" r:id="rId12"/>
    <p:sldId id="324" r:id="rId13"/>
    <p:sldId id="267" r:id="rId14"/>
    <p:sldId id="268" r:id="rId15"/>
    <p:sldId id="265" r:id="rId16"/>
    <p:sldId id="26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47E5"/>
    <a:srgbClr val="D84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45140C-C326-4DAA-A267-498AD5117D68}" type="doc">
      <dgm:prSet loTypeId="urn:microsoft.com/office/officeart/2005/8/layout/vList4" loCatId="picture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s-CL"/>
        </a:p>
      </dgm:t>
    </dgm:pt>
    <dgm:pt modelId="{78BFB295-8F5D-4286-B72B-79142F8F0E13}">
      <dgm:prSet phldrT="[Texto]"/>
      <dgm:spPr/>
      <dgm:t>
        <a:bodyPr/>
        <a:lstStyle/>
        <a:p>
          <a:r>
            <a:rPr lang="es-MX" dirty="0"/>
            <a:t>Juan Silva Sepúlveda</a:t>
          </a:r>
          <a:endParaRPr lang="es-CL" dirty="0"/>
        </a:p>
      </dgm:t>
    </dgm:pt>
    <dgm:pt modelId="{F1885FAB-61EC-4F80-98D0-72360031AF9F}" type="parTrans" cxnId="{2AD07198-D472-4B98-B6D5-5A730374E9A2}">
      <dgm:prSet/>
      <dgm:spPr/>
      <dgm:t>
        <a:bodyPr/>
        <a:lstStyle/>
        <a:p>
          <a:endParaRPr lang="es-CL"/>
        </a:p>
      </dgm:t>
    </dgm:pt>
    <dgm:pt modelId="{E88D0928-51D4-4670-8963-60ABBB193E13}" type="sibTrans" cxnId="{2AD07198-D472-4B98-B6D5-5A730374E9A2}">
      <dgm:prSet/>
      <dgm:spPr/>
      <dgm:t>
        <a:bodyPr/>
        <a:lstStyle/>
        <a:p>
          <a:endParaRPr lang="es-CL"/>
        </a:p>
      </dgm:t>
    </dgm:pt>
    <dgm:pt modelId="{D868444B-AE34-4422-A6A5-1F7D392D0C20}">
      <dgm:prSet phldrT="[Texto]"/>
      <dgm:spPr/>
      <dgm:t>
        <a:bodyPr/>
        <a:lstStyle/>
        <a:p>
          <a:r>
            <a:rPr lang="es-MX" dirty="0" err="1"/>
            <a:t>Product</a:t>
          </a:r>
          <a:r>
            <a:rPr lang="es-MX" dirty="0"/>
            <a:t> </a:t>
          </a:r>
          <a:r>
            <a:rPr lang="es-MX" dirty="0" err="1"/>
            <a:t>Owner</a:t>
          </a:r>
          <a:endParaRPr lang="es-CL" dirty="0"/>
        </a:p>
      </dgm:t>
    </dgm:pt>
    <dgm:pt modelId="{7DB88D83-6C3A-48C1-8CAD-0D11C3BEC35C}" type="parTrans" cxnId="{484B8A37-0122-4FF5-93D2-4A15DF521A17}">
      <dgm:prSet/>
      <dgm:spPr/>
      <dgm:t>
        <a:bodyPr/>
        <a:lstStyle/>
        <a:p>
          <a:endParaRPr lang="es-CL"/>
        </a:p>
      </dgm:t>
    </dgm:pt>
    <dgm:pt modelId="{74B9B1A5-94EB-40A9-BFF2-678501068FB8}" type="sibTrans" cxnId="{484B8A37-0122-4FF5-93D2-4A15DF521A17}">
      <dgm:prSet/>
      <dgm:spPr/>
      <dgm:t>
        <a:bodyPr/>
        <a:lstStyle/>
        <a:p>
          <a:endParaRPr lang="es-CL"/>
        </a:p>
      </dgm:t>
    </dgm:pt>
    <dgm:pt modelId="{02A34BC0-F8BA-4A89-87A4-4F20079DFD06}">
      <dgm:prSet phldrT="[Texto]"/>
      <dgm:spPr/>
      <dgm:t>
        <a:bodyPr/>
        <a:lstStyle/>
        <a:p>
          <a:r>
            <a:rPr lang="es-MX" dirty="0"/>
            <a:t>Matías Reuque Barros</a:t>
          </a:r>
          <a:endParaRPr lang="es-CL" dirty="0"/>
        </a:p>
      </dgm:t>
    </dgm:pt>
    <dgm:pt modelId="{9ADB496F-2DB6-4F16-8C91-2EB9CDF5F2F2}" type="parTrans" cxnId="{0E2AE979-A66C-4CEC-BFF4-5B28BB7CD9EA}">
      <dgm:prSet/>
      <dgm:spPr/>
      <dgm:t>
        <a:bodyPr/>
        <a:lstStyle/>
        <a:p>
          <a:endParaRPr lang="es-CL"/>
        </a:p>
      </dgm:t>
    </dgm:pt>
    <dgm:pt modelId="{44AB630E-CD8B-4223-9F51-5EEE4E054B0A}" type="sibTrans" cxnId="{0E2AE979-A66C-4CEC-BFF4-5B28BB7CD9EA}">
      <dgm:prSet/>
      <dgm:spPr/>
      <dgm:t>
        <a:bodyPr/>
        <a:lstStyle/>
        <a:p>
          <a:endParaRPr lang="es-CL"/>
        </a:p>
      </dgm:t>
    </dgm:pt>
    <dgm:pt modelId="{EA3B2395-55AF-495E-9D6B-329D2886612F}">
      <dgm:prSet phldrT="[Texto]"/>
      <dgm:spPr/>
      <dgm:t>
        <a:bodyPr/>
        <a:lstStyle/>
        <a:p>
          <a:r>
            <a:rPr lang="es-MX" dirty="0"/>
            <a:t>Scrum Master</a:t>
          </a:r>
          <a:endParaRPr lang="es-CL" dirty="0"/>
        </a:p>
      </dgm:t>
    </dgm:pt>
    <dgm:pt modelId="{11A4E056-7834-4F82-8A9C-B8EA31F159E3}" type="sibTrans" cxnId="{778F2DBC-81F3-476D-BD99-784E4F7153C8}">
      <dgm:prSet/>
      <dgm:spPr/>
      <dgm:t>
        <a:bodyPr/>
        <a:lstStyle/>
        <a:p>
          <a:endParaRPr lang="es-CL"/>
        </a:p>
      </dgm:t>
    </dgm:pt>
    <dgm:pt modelId="{01DA10B6-3F7A-4C8A-AACD-F605EE6CCF20}" type="parTrans" cxnId="{778F2DBC-81F3-476D-BD99-784E4F7153C8}">
      <dgm:prSet/>
      <dgm:spPr/>
      <dgm:t>
        <a:bodyPr/>
        <a:lstStyle/>
        <a:p>
          <a:endParaRPr lang="es-CL"/>
        </a:p>
      </dgm:t>
    </dgm:pt>
    <dgm:pt modelId="{6E1E561E-88C1-49C6-A3F7-DE4B9AD43273}" type="pres">
      <dgm:prSet presAssocID="{BE45140C-C326-4DAA-A267-498AD5117D68}" presName="linear" presStyleCnt="0">
        <dgm:presLayoutVars>
          <dgm:dir/>
          <dgm:resizeHandles val="exact"/>
        </dgm:presLayoutVars>
      </dgm:prSet>
      <dgm:spPr/>
    </dgm:pt>
    <dgm:pt modelId="{F70979D0-5925-4EC3-AD84-986E0EC7B0D8}" type="pres">
      <dgm:prSet presAssocID="{78BFB295-8F5D-4286-B72B-79142F8F0E13}" presName="comp" presStyleCnt="0"/>
      <dgm:spPr/>
    </dgm:pt>
    <dgm:pt modelId="{54FC4CB6-0791-48D3-B2C5-2E99B8AFCFF7}" type="pres">
      <dgm:prSet presAssocID="{78BFB295-8F5D-4286-B72B-79142F8F0E13}" presName="box" presStyleLbl="node1" presStyleIdx="0" presStyleCnt="2" custLinFactNeighborX="5318" custLinFactNeighborY="-12417"/>
      <dgm:spPr/>
    </dgm:pt>
    <dgm:pt modelId="{9A7E2690-DE9C-4572-9BE5-B8C9A3B8BBB3}" type="pres">
      <dgm:prSet presAssocID="{78BFB295-8F5D-4286-B72B-79142F8F0E13}" presName="img" presStyleLbl="fgImgPlace1" presStyleIdx="0" presStyleCnt="2"/>
      <dgm:spPr>
        <a:blipFill>
          <a:blip xmlns:r="http://schemas.openxmlformats.org/officeDocument/2006/relationships" r:embed="rId1"/>
          <a:srcRect/>
          <a:stretch>
            <a:fillRect l="-4000" r="-4000"/>
          </a:stretch>
        </a:blipFill>
      </dgm:spPr>
    </dgm:pt>
    <dgm:pt modelId="{52D125D2-FCA7-4A2D-AB39-B6BD54F251F2}" type="pres">
      <dgm:prSet presAssocID="{78BFB295-8F5D-4286-B72B-79142F8F0E13}" presName="text" presStyleLbl="node1" presStyleIdx="0" presStyleCnt="2">
        <dgm:presLayoutVars>
          <dgm:bulletEnabled val="1"/>
        </dgm:presLayoutVars>
      </dgm:prSet>
      <dgm:spPr/>
    </dgm:pt>
    <dgm:pt modelId="{E95CA29D-745B-40BA-93B6-BB607C99A2CE}" type="pres">
      <dgm:prSet presAssocID="{E88D0928-51D4-4670-8963-60ABBB193E13}" presName="spacer" presStyleCnt="0"/>
      <dgm:spPr/>
    </dgm:pt>
    <dgm:pt modelId="{41A67AC8-1DD7-4AB7-96A3-87B24035E3FA}" type="pres">
      <dgm:prSet presAssocID="{02A34BC0-F8BA-4A89-87A4-4F20079DFD06}" presName="comp" presStyleCnt="0"/>
      <dgm:spPr/>
    </dgm:pt>
    <dgm:pt modelId="{39AFE128-ACF6-44CA-B18B-64F5782CF210}" type="pres">
      <dgm:prSet presAssocID="{02A34BC0-F8BA-4A89-87A4-4F20079DFD06}" presName="box" presStyleLbl="node1" presStyleIdx="1" presStyleCnt="2"/>
      <dgm:spPr/>
    </dgm:pt>
    <dgm:pt modelId="{3F97C059-D720-4D48-953F-B84D04D0BF79}" type="pres">
      <dgm:prSet presAssocID="{02A34BC0-F8BA-4A89-87A4-4F20079DFD06}" presName="img" presStyleLbl="fgImgPlace1" presStyleIdx="1" presStyleCnt="2"/>
      <dgm:spPr>
        <a:blipFill>
          <a:blip xmlns:r="http://schemas.openxmlformats.org/officeDocument/2006/relationships" r:embed="rId2"/>
          <a:srcRect/>
          <a:stretch>
            <a:fillRect l="-4000" r="-4000"/>
          </a:stretch>
        </a:blipFill>
      </dgm:spPr>
    </dgm:pt>
    <dgm:pt modelId="{CFFDF23F-D296-4CDF-8EE4-8A672559E207}" type="pres">
      <dgm:prSet presAssocID="{02A34BC0-F8BA-4A89-87A4-4F20079DFD06}" presName="text" presStyleLbl="node1" presStyleIdx="1" presStyleCnt="2">
        <dgm:presLayoutVars>
          <dgm:bulletEnabled val="1"/>
        </dgm:presLayoutVars>
      </dgm:prSet>
      <dgm:spPr/>
    </dgm:pt>
  </dgm:ptLst>
  <dgm:cxnLst>
    <dgm:cxn modelId="{D2B94F0C-C779-4AC1-87E4-35116A3DED02}" type="presOf" srcId="{78BFB295-8F5D-4286-B72B-79142F8F0E13}" destId="{54FC4CB6-0791-48D3-B2C5-2E99B8AFCFF7}" srcOrd="0" destOrd="0" presId="urn:microsoft.com/office/officeart/2005/8/layout/vList4"/>
    <dgm:cxn modelId="{A6E20436-8EF1-4FFF-9C29-AC69BF1D5C4A}" type="presOf" srcId="{02A34BC0-F8BA-4A89-87A4-4F20079DFD06}" destId="{39AFE128-ACF6-44CA-B18B-64F5782CF210}" srcOrd="0" destOrd="0" presId="urn:microsoft.com/office/officeart/2005/8/layout/vList4"/>
    <dgm:cxn modelId="{484B8A37-0122-4FF5-93D2-4A15DF521A17}" srcId="{78BFB295-8F5D-4286-B72B-79142F8F0E13}" destId="{D868444B-AE34-4422-A6A5-1F7D392D0C20}" srcOrd="0" destOrd="0" parTransId="{7DB88D83-6C3A-48C1-8CAD-0D11C3BEC35C}" sibTransId="{74B9B1A5-94EB-40A9-BFF2-678501068FB8}"/>
    <dgm:cxn modelId="{7E8FC05E-FE02-4336-B1F8-3EAA05519A49}" type="presOf" srcId="{D868444B-AE34-4422-A6A5-1F7D392D0C20}" destId="{54FC4CB6-0791-48D3-B2C5-2E99B8AFCFF7}" srcOrd="0" destOrd="1" presId="urn:microsoft.com/office/officeart/2005/8/layout/vList4"/>
    <dgm:cxn modelId="{0E2AE979-A66C-4CEC-BFF4-5B28BB7CD9EA}" srcId="{BE45140C-C326-4DAA-A267-498AD5117D68}" destId="{02A34BC0-F8BA-4A89-87A4-4F20079DFD06}" srcOrd="1" destOrd="0" parTransId="{9ADB496F-2DB6-4F16-8C91-2EB9CDF5F2F2}" sibTransId="{44AB630E-CD8B-4223-9F51-5EEE4E054B0A}"/>
    <dgm:cxn modelId="{2AD07198-D472-4B98-B6D5-5A730374E9A2}" srcId="{BE45140C-C326-4DAA-A267-498AD5117D68}" destId="{78BFB295-8F5D-4286-B72B-79142F8F0E13}" srcOrd="0" destOrd="0" parTransId="{F1885FAB-61EC-4F80-98D0-72360031AF9F}" sibTransId="{E88D0928-51D4-4670-8963-60ABBB193E13}"/>
    <dgm:cxn modelId="{690A389C-25C1-485B-88F9-437236A47744}" type="presOf" srcId="{BE45140C-C326-4DAA-A267-498AD5117D68}" destId="{6E1E561E-88C1-49C6-A3F7-DE4B9AD43273}" srcOrd="0" destOrd="0" presId="urn:microsoft.com/office/officeart/2005/8/layout/vList4"/>
    <dgm:cxn modelId="{ECFD91A4-F44F-4C84-8B25-37DA0B249A1F}" type="presOf" srcId="{78BFB295-8F5D-4286-B72B-79142F8F0E13}" destId="{52D125D2-FCA7-4A2D-AB39-B6BD54F251F2}" srcOrd="1" destOrd="0" presId="urn:microsoft.com/office/officeart/2005/8/layout/vList4"/>
    <dgm:cxn modelId="{778F2DBC-81F3-476D-BD99-784E4F7153C8}" srcId="{02A34BC0-F8BA-4A89-87A4-4F20079DFD06}" destId="{EA3B2395-55AF-495E-9D6B-329D2886612F}" srcOrd="0" destOrd="0" parTransId="{01DA10B6-3F7A-4C8A-AACD-F605EE6CCF20}" sibTransId="{11A4E056-7834-4F82-8A9C-B8EA31F159E3}"/>
    <dgm:cxn modelId="{FE5360C5-555C-42B2-9E63-16D2D46F21B1}" type="presOf" srcId="{D868444B-AE34-4422-A6A5-1F7D392D0C20}" destId="{52D125D2-FCA7-4A2D-AB39-B6BD54F251F2}" srcOrd="1" destOrd="1" presId="urn:microsoft.com/office/officeart/2005/8/layout/vList4"/>
    <dgm:cxn modelId="{B0C181C9-77EB-4775-B9E6-C6CBDA60E6EB}" type="presOf" srcId="{EA3B2395-55AF-495E-9D6B-329D2886612F}" destId="{CFFDF23F-D296-4CDF-8EE4-8A672559E207}" srcOrd="1" destOrd="1" presId="urn:microsoft.com/office/officeart/2005/8/layout/vList4"/>
    <dgm:cxn modelId="{22A4C7D2-C14A-4622-8C4E-3FE51F50DCC3}" type="presOf" srcId="{02A34BC0-F8BA-4A89-87A4-4F20079DFD06}" destId="{CFFDF23F-D296-4CDF-8EE4-8A672559E207}" srcOrd="1" destOrd="0" presId="urn:microsoft.com/office/officeart/2005/8/layout/vList4"/>
    <dgm:cxn modelId="{7ABE08FD-4ED4-44FB-BFBA-794B6C5FA813}" type="presOf" srcId="{EA3B2395-55AF-495E-9D6B-329D2886612F}" destId="{39AFE128-ACF6-44CA-B18B-64F5782CF210}" srcOrd="0" destOrd="1" presId="urn:microsoft.com/office/officeart/2005/8/layout/vList4"/>
    <dgm:cxn modelId="{DA463EE6-78DB-4E59-8099-EBA029F401B0}" type="presParOf" srcId="{6E1E561E-88C1-49C6-A3F7-DE4B9AD43273}" destId="{F70979D0-5925-4EC3-AD84-986E0EC7B0D8}" srcOrd="0" destOrd="0" presId="urn:microsoft.com/office/officeart/2005/8/layout/vList4"/>
    <dgm:cxn modelId="{2FE346D7-6685-4BD0-9465-988681234E35}" type="presParOf" srcId="{F70979D0-5925-4EC3-AD84-986E0EC7B0D8}" destId="{54FC4CB6-0791-48D3-B2C5-2E99B8AFCFF7}" srcOrd="0" destOrd="0" presId="urn:microsoft.com/office/officeart/2005/8/layout/vList4"/>
    <dgm:cxn modelId="{3671DC51-8308-4E14-B210-C8528BB18500}" type="presParOf" srcId="{F70979D0-5925-4EC3-AD84-986E0EC7B0D8}" destId="{9A7E2690-DE9C-4572-9BE5-B8C9A3B8BBB3}" srcOrd="1" destOrd="0" presId="urn:microsoft.com/office/officeart/2005/8/layout/vList4"/>
    <dgm:cxn modelId="{36512CCB-6AF4-4E79-94F2-3EAFE5E8BC48}" type="presParOf" srcId="{F70979D0-5925-4EC3-AD84-986E0EC7B0D8}" destId="{52D125D2-FCA7-4A2D-AB39-B6BD54F251F2}" srcOrd="2" destOrd="0" presId="urn:microsoft.com/office/officeart/2005/8/layout/vList4"/>
    <dgm:cxn modelId="{ECC56BF9-E938-422B-98CD-A358ACD6F8DC}" type="presParOf" srcId="{6E1E561E-88C1-49C6-A3F7-DE4B9AD43273}" destId="{E95CA29D-745B-40BA-93B6-BB607C99A2CE}" srcOrd="1" destOrd="0" presId="urn:microsoft.com/office/officeart/2005/8/layout/vList4"/>
    <dgm:cxn modelId="{158F6488-FF9D-4053-8FD1-E0DD5F22ECAD}" type="presParOf" srcId="{6E1E561E-88C1-49C6-A3F7-DE4B9AD43273}" destId="{41A67AC8-1DD7-4AB7-96A3-87B24035E3FA}" srcOrd="2" destOrd="0" presId="urn:microsoft.com/office/officeart/2005/8/layout/vList4"/>
    <dgm:cxn modelId="{236FF4A9-4957-4F7A-A24B-795FE34BEEFD}" type="presParOf" srcId="{41A67AC8-1DD7-4AB7-96A3-87B24035E3FA}" destId="{39AFE128-ACF6-44CA-B18B-64F5782CF210}" srcOrd="0" destOrd="0" presId="urn:microsoft.com/office/officeart/2005/8/layout/vList4"/>
    <dgm:cxn modelId="{5BD15FCC-0B87-4D85-98EC-9D897E4655EE}" type="presParOf" srcId="{41A67AC8-1DD7-4AB7-96A3-87B24035E3FA}" destId="{3F97C059-D720-4D48-953F-B84D04D0BF79}" srcOrd="1" destOrd="0" presId="urn:microsoft.com/office/officeart/2005/8/layout/vList4"/>
    <dgm:cxn modelId="{3156CEE4-28C8-4C16-85AC-EE6796DAD482}" type="presParOf" srcId="{41A67AC8-1DD7-4AB7-96A3-87B24035E3FA}" destId="{CFFDF23F-D296-4CDF-8EE4-8A672559E207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C4CB6-0791-48D3-B2C5-2E99B8AFCFF7}">
      <dsp:nvSpPr>
        <dsp:cNvPr id="0" name=""/>
        <dsp:cNvSpPr/>
      </dsp:nvSpPr>
      <dsp:spPr>
        <a:xfrm>
          <a:off x="0" y="0"/>
          <a:ext cx="7633494" cy="20711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800" kern="1200" dirty="0"/>
            <a:t>Juan Silva Sepúlveda</a:t>
          </a:r>
          <a:endParaRPr lang="es-CL" sz="4800" kern="1200" dirty="0"/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700" kern="1200" dirty="0" err="1"/>
            <a:t>Product</a:t>
          </a:r>
          <a:r>
            <a:rPr lang="es-MX" sz="3700" kern="1200" dirty="0"/>
            <a:t> </a:t>
          </a:r>
          <a:r>
            <a:rPr lang="es-MX" sz="3700" kern="1200" dirty="0" err="1"/>
            <a:t>Owner</a:t>
          </a:r>
          <a:endParaRPr lang="es-CL" sz="3700" kern="1200" dirty="0"/>
        </a:p>
      </dsp:txBody>
      <dsp:txXfrm>
        <a:off x="1733817" y="0"/>
        <a:ext cx="5899676" cy="2071186"/>
      </dsp:txXfrm>
    </dsp:sp>
    <dsp:sp modelId="{9A7E2690-DE9C-4572-9BE5-B8C9A3B8BBB3}">
      <dsp:nvSpPr>
        <dsp:cNvPr id="0" name=""/>
        <dsp:cNvSpPr/>
      </dsp:nvSpPr>
      <dsp:spPr>
        <a:xfrm>
          <a:off x="207118" y="207118"/>
          <a:ext cx="1526698" cy="165694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l="-4000" r="-4000"/>
          </a:stretch>
        </a:blip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9AFE128-ACF6-44CA-B18B-64F5782CF210}">
      <dsp:nvSpPr>
        <dsp:cNvPr id="0" name=""/>
        <dsp:cNvSpPr/>
      </dsp:nvSpPr>
      <dsp:spPr>
        <a:xfrm>
          <a:off x="0" y="2278305"/>
          <a:ext cx="7633494" cy="20711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800" kern="1200" dirty="0"/>
            <a:t>Matías Reuque Barros</a:t>
          </a:r>
          <a:endParaRPr lang="es-CL" sz="4800" kern="1200" dirty="0"/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700" kern="1200" dirty="0"/>
            <a:t>Scrum Master</a:t>
          </a:r>
          <a:endParaRPr lang="es-CL" sz="3700" kern="1200" dirty="0"/>
        </a:p>
      </dsp:txBody>
      <dsp:txXfrm>
        <a:off x="1733817" y="2278305"/>
        <a:ext cx="5899676" cy="2071186"/>
      </dsp:txXfrm>
    </dsp:sp>
    <dsp:sp modelId="{3F97C059-D720-4D48-953F-B84D04D0BF79}">
      <dsp:nvSpPr>
        <dsp:cNvPr id="0" name=""/>
        <dsp:cNvSpPr/>
      </dsp:nvSpPr>
      <dsp:spPr>
        <a:xfrm>
          <a:off x="207118" y="2485423"/>
          <a:ext cx="1526698" cy="165694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l="-4000" r="-4000"/>
          </a:stretch>
        </a:blip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06-07-2026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86541400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06-07-2026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88339774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06-07-2026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38585756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06-07-2026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2256933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06-07-2026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34026723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06-07-2026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65456656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06-07-2026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15344794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06-07-2026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01497297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06-07-2026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4148649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06-07-2026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31811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06-07-2026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14804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06-07-2026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9396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06-07-2026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436026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06-07-2026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79574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06-07-2026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82988206"/>
      </p:ext>
    </p:extLst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06-07-2026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86853125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06-07-2026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34531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  <p:sldLayoutId id="2147483760" r:id="rId15"/>
    <p:sldLayoutId id="2147483761" r:id="rId16"/>
  </p:sldLayoutIdLst>
  <p:transition spd="slow">
    <p:wipe/>
  </p:transition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524484" y="2111805"/>
            <a:ext cx="4335468" cy="20849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kern="1200" dirty="0">
                <a:solidFill>
                  <a:schemeClr val="accent1"/>
                </a:solidFill>
                <a:latin typeface="Century Schoolbook" panose="02040604050505020304" pitchFamily="18" charset="0"/>
                <a:ea typeface="+mj-ea"/>
                <a:cs typeface="+mj-cs"/>
              </a:rPr>
              <a:t>PROYECTO SERVIHOGAR</a:t>
            </a: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kern="1200" dirty="0">
                <a:solidFill>
                  <a:schemeClr val="accent1"/>
                </a:solidFill>
                <a:latin typeface="Century Schoolbook" panose="02040604050505020304" pitchFamily="18" charset="0"/>
                <a:ea typeface="+mj-ea"/>
                <a:cs typeface="+mj-cs"/>
              </a:rPr>
              <a:t>PRESENTACIÓN FINAL CAPSTONE</a:t>
            </a:r>
          </a:p>
        </p:txBody>
      </p:sp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8" y="3154273"/>
            <a:ext cx="3280613" cy="820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19631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7" y="11275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CD98BAAD-E67E-3FB9-220F-BD3AA3645F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3091087"/>
              </p:ext>
            </p:extLst>
          </p:nvPr>
        </p:nvGraphicFramePr>
        <p:xfrm>
          <a:off x="4121026" y="1710819"/>
          <a:ext cx="7633494" cy="4350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INTEGRANTES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 descr="Logo de DuocUC Escuela de Informática y Telecomunicaciones con fondo transparente">
            <a:extLst>
              <a:ext uri="{FF2B5EF4-FFF2-40B4-BE49-F238E27FC236}">
                <a16:creationId xmlns:a16="http://schemas.microsoft.com/office/drawing/2014/main" id="{5BC367C9-A3AB-E4F4-3E75-DCA1344767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681598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6" y="19758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DESCRIPCIÓN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CB288BD-84B1-DF16-6004-32D5F8A61FF7}"/>
              </a:ext>
            </a:extLst>
          </p:cNvPr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Problema</a:t>
            </a:r>
            <a:endParaRPr lang="es-MX" u="sng" dirty="0"/>
          </a:p>
          <a:p>
            <a:r>
              <a:rPr lang="es-ES" dirty="0"/>
              <a:t>El agendamiento de servicios a domicilio en Chile es informal: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dirty="0"/>
              <a:t>Recomendación de un tercero.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dirty="0"/>
              <a:t>Coordinación por redes sociales</a:t>
            </a:r>
            <a:r>
              <a:rPr lang="es-CL" dirty="0"/>
              <a:t> o llamada.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CL" dirty="0"/>
              <a:t>Poca confianza por información limitada.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DC84C5C-77A0-B2A2-F0BB-8A7713B865EA}"/>
              </a:ext>
            </a:extLst>
          </p:cNvPr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Propuesta de solución</a:t>
            </a:r>
          </a:p>
          <a:p>
            <a:r>
              <a:rPr lang="es-CL" dirty="0"/>
              <a:t>Crear una plataforma web para visibilizar a los trabajadores independientes, ofreciendo un sistema de reservas, búsqueda con filtros, gestión de horario laboral y calificación de estrellas.</a:t>
            </a:r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E4B09E7F-FBE6-31BF-0C0F-DD32DBE05724}"/>
              </a:ext>
            </a:extLst>
          </p:cNvPr>
          <p:cNvSpPr/>
          <p:nvPr/>
        </p:nvSpPr>
        <p:spPr>
          <a:xfrm>
            <a:off x="5456903" y="3736258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57307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3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 General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8D4A171-2FE3-5173-34E6-9DC3D74E7376}"/>
              </a:ext>
            </a:extLst>
          </p:cNvPr>
          <p:cNvSpPr/>
          <p:nvPr/>
        </p:nvSpPr>
        <p:spPr>
          <a:xfrm>
            <a:off x="614515" y="2040571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Desarrollar una plataforma web que conecte la oferta de trabajadores independientes</a:t>
            </a:r>
          </a:p>
          <a:p>
            <a:pPr algn="ctr"/>
            <a:r>
              <a:rPr lang="es-ES" dirty="0"/>
              <a:t>con la demanda de servicios a domicilio.</a:t>
            </a:r>
            <a:endParaRPr lang="es-CL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E63425F-86F4-531E-E0F5-7A349604A51E}"/>
              </a:ext>
            </a:extLst>
          </p:cNvPr>
          <p:cNvSpPr/>
          <p:nvPr/>
        </p:nvSpPr>
        <p:spPr>
          <a:xfrm>
            <a:off x="614514" y="4275909"/>
            <a:ext cx="10962967" cy="203171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es-ES" sz="2000" dirty="0"/>
              <a:t>Lograr un aumento en el registro de usuarios de un 30%.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es-ES" sz="2000" dirty="0"/>
              <a:t>Mantener una calificación promedio igual o mayor a 3 estrellas.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es-ES" sz="2000" dirty="0"/>
              <a:t>Expandir la cobertura regional a una o 2 regiones de Chile.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es-ES" sz="2000" dirty="0"/>
              <a:t>Incluir al menos 2 categorías nuevas de servicios.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33B57D9-BF13-9372-D021-14655CF00C4C}"/>
              </a:ext>
            </a:extLst>
          </p:cNvPr>
          <p:cNvSpPr txBox="1"/>
          <p:nvPr/>
        </p:nvSpPr>
        <p:spPr>
          <a:xfrm>
            <a:off x="-3" y="3694674"/>
            <a:ext cx="12191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 Específicos</a:t>
            </a:r>
          </a:p>
          <a:p>
            <a:pPr algn="ctr"/>
            <a:r>
              <a:rPr lang="es-CL" dirty="0"/>
              <a:t>(a 6 meses del despliegue)</a:t>
            </a:r>
          </a:p>
        </p:txBody>
      </p:sp>
    </p:spTree>
    <p:extLst>
      <p:ext uri="{BB962C8B-B14F-4D97-AF65-F5344CB8AC3E}">
        <p14:creationId xmlns:p14="http://schemas.microsoft.com/office/powerpoint/2010/main" val="27176697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1484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2740143" y="1432655"/>
            <a:ext cx="2690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Alcances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E3311CD-16D6-D722-7962-4D5DF881B096}"/>
              </a:ext>
            </a:extLst>
          </p:cNvPr>
          <p:cNvSpPr txBox="1"/>
          <p:nvPr/>
        </p:nvSpPr>
        <p:spPr>
          <a:xfrm>
            <a:off x="1601890" y="2078986"/>
            <a:ext cx="8987733" cy="4524315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Plataforma web responsiva para gestionar servicios a domicilio en la región del </a:t>
            </a:r>
            <a:r>
              <a:rPr lang="es-ES" sz="1600" dirty="0" err="1"/>
              <a:t>BioBío</a:t>
            </a:r>
            <a:r>
              <a:rPr lang="es-ES" sz="1600" dirty="0"/>
              <a:t>, Chile.​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Cobertura inicial de tres servicios: gasfitería﻿, limpieza del hogar﻿ y jardinería﻿.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Flujo completo digital: registro y autenticación, verificación de antecedentes, búsqueda, reserva y sistema de reseñas.</a:t>
            </a:r>
          </a:p>
          <a:p>
            <a:pPr lvl="1"/>
            <a:r>
              <a:rPr lang="es-ES" sz="1600" dirty="0"/>
              <a:t>​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Configuración de horario laboral personal por servicio, incluyendo bloqueo de días y horarios personalizados.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Panel administrativo para monitorear usuarios, servicios, historial y estadísticas.</a:t>
            </a:r>
          </a:p>
          <a:p>
            <a:pPr lvl="1"/>
            <a:r>
              <a:rPr lang="es-CL" sz="1600" dirty="0"/>
              <a:t> </a:t>
            </a:r>
            <a:endParaRPr lang="es-E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No se desarrollará aplicación móvil para Android/iOS en esta etapa.​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Enfoque exclusivo en el mercado chileno, sin multilenguaje ni soporte internacional.​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No incluye chat en tiempo real, campañas de correo automatizadas ni motores de recomendación basados en inteligencia artificial.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No incluye sistema de pagos, el pago del servicio será presencial (efectivo o transferencia).</a:t>
            </a:r>
            <a:endParaRPr lang="es-CL" sz="160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AF8EF1D-5CEF-6C44-5BB3-7E99539DEE39}"/>
              </a:ext>
            </a:extLst>
          </p:cNvPr>
          <p:cNvSpPr txBox="1"/>
          <p:nvPr/>
        </p:nvSpPr>
        <p:spPr>
          <a:xfrm>
            <a:off x="6941173" y="1432655"/>
            <a:ext cx="2969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Limitaciones</a:t>
            </a:r>
          </a:p>
        </p:txBody>
      </p:sp>
    </p:spTree>
    <p:extLst>
      <p:ext uri="{BB962C8B-B14F-4D97-AF65-F5344CB8AC3E}">
        <p14:creationId xmlns:p14="http://schemas.microsoft.com/office/powerpoint/2010/main" val="329995646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6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496389" y="141063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Metodología de trabajo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F908992C-868A-909F-9CFB-86D74E48B5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0D44F8C-4DBE-4B7E-A098-FC4CC2997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94" y="3102267"/>
            <a:ext cx="5554879" cy="275917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437C1A00-A50A-1211-8B6C-4B29322C6709}"/>
              </a:ext>
            </a:extLst>
          </p:cNvPr>
          <p:cNvSpPr txBox="1"/>
          <p:nvPr/>
        </p:nvSpPr>
        <p:spPr>
          <a:xfrm>
            <a:off x="4175760" y="2084292"/>
            <a:ext cx="48332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Utilizamos Scrum, un enfoque ágil que organiza el trabajo en </a:t>
            </a:r>
            <a:r>
              <a:rPr lang="es-ES" dirty="0" err="1"/>
              <a:t>Sprints</a:t>
            </a:r>
            <a:r>
              <a:rPr lang="es-ES" dirty="0"/>
              <a:t> cortos para planificar, desarrollar y revisar incrementos del producto de forma iterativa y adaptable a cambios.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96419974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7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6403263" y="1107188"/>
            <a:ext cx="4023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Cronograma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D2D03411-7B62-C052-6068-C67632DF74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414"/>
          <a:stretch>
            <a:fillRect/>
          </a:stretch>
        </p:blipFill>
        <p:spPr>
          <a:xfrm>
            <a:off x="1018137" y="758027"/>
            <a:ext cx="6134959" cy="589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338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481F9-04BF-7344-7C5C-DF34794A2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2176E707-81E3-6979-7B2A-ACB9BCC7A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7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9FC5496-E3AA-7E97-E15B-014C307E7E50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72DF29C-05DA-D047-93C3-9504FC317D61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n 10">
            <a:extLst>
              <a:ext uri="{FF2B5EF4-FFF2-40B4-BE49-F238E27FC236}">
                <a16:creationId xmlns:a16="http://schemas.microsoft.com/office/drawing/2014/main" id="{F18B4FDD-44E5-9E6F-B32F-EC9517BD6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41" y="980895"/>
            <a:ext cx="3953423" cy="527936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0489C1E-5C9D-70B5-5C1A-279744BE3F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4764" y="1505848"/>
            <a:ext cx="3914071" cy="422946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BAB396D7-7082-7200-E9E8-37B6AAC10A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8835" y="1639824"/>
            <a:ext cx="3953423" cy="396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40070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1484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" y="75802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Arquitectura del software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3F82B94-0F22-D1E6-897B-F351F010D1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93" b="22013"/>
          <a:stretch>
            <a:fillRect/>
          </a:stretch>
        </p:blipFill>
        <p:spPr>
          <a:xfrm>
            <a:off x="3446069" y="1512383"/>
            <a:ext cx="5299862" cy="458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91460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E40F91B-D4D4-45E4-FB93-F6C68E60E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608" y="98014"/>
            <a:ext cx="8662783" cy="6661971"/>
          </a:xfrm>
          <a:prstGeom prst="rect">
            <a:avLst/>
          </a:prstGeom>
        </p:spPr>
      </p:pic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7" y="909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759493" y="738260"/>
            <a:ext cx="3545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Modelo de datos</a:t>
            </a:r>
          </a:p>
        </p:txBody>
      </p:sp>
    </p:spTree>
    <p:extLst>
      <p:ext uri="{BB962C8B-B14F-4D97-AF65-F5344CB8AC3E}">
        <p14:creationId xmlns:p14="http://schemas.microsoft.com/office/powerpoint/2010/main" val="2752457618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588B2-6AA3-1958-1C37-1CDC925FD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26525873-FFA7-A352-DBC2-0D8A24D64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7" y="909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0FA0E69-85D3-A92D-3D95-019F075BFFF4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9C26B29-2259-A146-D113-5E7BDCD126CF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43640F11-EA42-5D79-AD1F-518F4BFBF797}"/>
              </a:ext>
            </a:extLst>
          </p:cNvPr>
          <p:cNvSpPr txBox="1"/>
          <p:nvPr/>
        </p:nvSpPr>
        <p:spPr>
          <a:xfrm>
            <a:off x="737342" y="738260"/>
            <a:ext cx="3568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Modelo de datos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3F0D473-7C4F-0A1E-B4B6-87A7DA9C5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772" y="1384591"/>
            <a:ext cx="2503685" cy="461422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07A8D8B-58BA-8F9E-C0CA-2B41593D6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8083" y="659926"/>
            <a:ext cx="3479655" cy="606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596840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55BCB-4CC4-3911-BF94-509E25FD3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1E06D3D2-7869-743E-E36F-C099E1998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7" y="909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3440253-D30F-085D-2447-97E57F17D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808" y="645002"/>
            <a:ext cx="7780479" cy="607497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7B42890-3B87-E772-0EBE-4EC019EE71AC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D4FA5A2-C2A9-2991-FF4F-9A45AEA4C513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5A8C73CD-9DDB-98F4-D355-E6C35452BCAA}"/>
              </a:ext>
            </a:extLst>
          </p:cNvPr>
          <p:cNvSpPr txBox="1"/>
          <p:nvPr/>
        </p:nvSpPr>
        <p:spPr>
          <a:xfrm>
            <a:off x="737342" y="738260"/>
            <a:ext cx="3568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Modelo de datos</a:t>
            </a:r>
          </a:p>
        </p:txBody>
      </p:sp>
    </p:spTree>
    <p:extLst>
      <p:ext uri="{BB962C8B-B14F-4D97-AF65-F5344CB8AC3E}">
        <p14:creationId xmlns:p14="http://schemas.microsoft.com/office/powerpoint/2010/main" val="2548100098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7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163003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Resultados obtenidos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6F6CAAE-EC76-296F-B375-0804B83679D6}"/>
              </a:ext>
            </a:extLst>
          </p:cNvPr>
          <p:cNvSpPr txBox="1"/>
          <p:nvPr/>
        </p:nvSpPr>
        <p:spPr>
          <a:xfrm>
            <a:off x="2334883" y="2018581"/>
            <a:ext cx="752223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Los resultados globales del proyecto son altamente satisfactorios: como equipo, se logró cumplir de manera exitosa con la totalidad de los alcances definidos para esta etapa del proyecto.</a:t>
            </a:r>
          </a:p>
          <a:p>
            <a:endParaRPr lang="es-CL" dirty="0"/>
          </a:p>
          <a:p>
            <a:r>
              <a:rPr lang="es-CL" dirty="0"/>
              <a:t>A lo largo del desarrollo, se registró un avance sostenido y conforme a lo establecido en el cronograma, finalizando dentro de los plazos proyectados.</a:t>
            </a:r>
          </a:p>
          <a:p>
            <a:endParaRPr lang="es-CL" dirty="0"/>
          </a:p>
          <a:p>
            <a:r>
              <a:rPr lang="es-CL" dirty="0"/>
              <a:t>Asimismo, el equipo manifiesta una actitud proactiva y el compromiso de continuar impulsando nuevas iniciativas e ideas para </a:t>
            </a:r>
            <a:r>
              <a:rPr lang="es-CL" dirty="0" err="1"/>
              <a:t>ServiHogar</a:t>
            </a:r>
            <a:r>
              <a:rPr lang="es-C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4893737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7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2464526" y="1055972"/>
            <a:ext cx="72629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Obstáculos presentados durante el desarrollo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E245AEB-497A-0BFA-5763-1CA781AB51C8}"/>
              </a:ext>
            </a:extLst>
          </p:cNvPr>
          <p:cNvSpPr txBox="1"/>
          <p:nvPr/>
        </p:nvSpPr>
        <p:spPr>
          <a:xfrm>
            <a:off x="2787770" y="2782630"/>
            <a:ext cx="68407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Coordinación y comunicación del equipo.</a:t>
            </a:r>
          </a:p>
          <a:p>
            <a:endParaRPr lang="es-ES" dirty="0"/>
          </a:p>
          <a:p>
            <a:r>
              <a:rPr lang="es-ES" dirty="0"/>
              <a:t>Adaptación a nuevas tecnologías.</a:t>
            </a:r>
          </a:p>
        </p:txBody>
      </p:sp>
    </p:spTree>
    <p:extLst>
      <p:ext uri="{BB962C8B-B14F-4D97-AF65-F5344CB8AC3E}">
        <p14:creationId xmlns:p14="http://schemas.microsoft.com/office/powerpoint/2010/main" val="1266268508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7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2508069" y="2521059"/>
            <a:ext cx="717586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DEMOSTRACIÓN DEL RESULTADO DEL PROYECTO</a:t>
            </a:r>
          </a:p>
        </p:txBody>
      </p:sp>
    </p:spTree>
    <p:extLst>
      <p:ext uri="{BB962C8B-B14F-4D97-AF65-F5344CB8AC3E}">
        <p14:creationId xmlns:p14="http://schemas.microsoft.com/office/powerpoint/2010/main" val="3034420816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6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659559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Consultas y/o comentarios</a:t>
            </a:r>
          </a:p>
        </p:txBody>
      </p:sp>
      <p:pic>
        <p:nvPicPr>
          <p:cNvPr id="2" name="2 Imagen" descr="foto_preguntas.jpg">
            <a:extLst>
              <a:ext uri="{FF2B5EF4-FFF2-40B4-BE49-F238E27FC236}">
                <a16:creationId xmlns:a16="http://schemas.microsoft.com/office/drawing/2014/main" id="{C07605C8-4819-D34A-D1F9-3A0FE832071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024436" y="357470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07973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Faceta">
  <a:themeElements>
    <a:clrScheme name="Verde azulado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1619</TotalTime>
  <Words>481</Words>
  <Application>Microsoft Office PowerPoint</Application>
  <PresentationFormat>Panorámica</PresentationFormat>
  <Paragraphs>73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Arial</vt:lpstr>
      <vt:lpstr>Calibri</vt:lpstr>
      <vt:lpstr>Century Schoolbook</vt:lpstr>
      <vt:lpstr>Wingdings</vt:lpstr>
      <vt:lpstr>Wingdings 3</vt:lpstr>
      <vt:lpstr>Faceta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 Galan Cruz</dc:creator>
  <cp:lastModifiedBy>JUAN CRISTOPHER SILVA SEPULVEDA</cp:lastModifiedBy>
  <cp:revision>19</cp:revision>
  <dcterms:created xsi:type="dcterms:W3CDTF">2023-10-28T21:12:11Z</dcterms:created>
  <dcterms:modified xsi:type="dcterms:W3CDTF">2026-07-06T17:00:37Z</dcterms:modified>
</cp:coreProperties>
</file>